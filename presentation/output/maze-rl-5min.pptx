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eba2ce9a8549cc" /><Relationship Type="http://schemas.openxmlformats.org/officeDocument/2006/relationships/extended-properties" Target="/docProps/app.xml" Id="Rad8fd45fb52344e0" /><Relationship Type="http://schemas.openxmlformats.org/officeDocument/2006/relationships/officeDocument" Target="/ppt/presentation.xml" Id="R38d77ccf7e3c49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9ef5c1751c4f9b"/>
  </p:sldMasterIdLst>
  <p:notesMasterIdLst>
    <p:notesMasterId xmlns:r="http://schemas.openxmlformats.org/officeDocument/2006/relationships" r:id="Ra9fc7b4240c84b41"/>
  </p:notesMasterIdLst>
  <p:sldIdLst>
    <p:sldId xmlns:r="http://schemas.openxmlformats.org/officeDocument/2006/relationships" id="256" r:id="R33ad845ae848428f"/>
    <p:sldId xmlns:r="http://schemas.openxmlformats.org/officeDocument/2006/relationships" id="257" r:id="Rfa7a5f5be8fc46cc"/>
    <p:sldId xmlns:r="http://schemas.openxmlformats.org/officeDocument/2006/relationships" id="258" r:id="R56443ebdadc44166"/>
    <p:sldId xmlns:r="http://schemas.openxmlformats.org/officeDocument/2006/relationships" id="259" r:id="Re3d2c52103ff4143"/>
    <p:sldId xmlns:r="http://schemas.openxmlformats.org/officeDocument/2006/relationships" id="260" r:id="R01497ce5ebd14667"/>
    <p:sldId xmlns:r="http://schemas.openxmlformats.org/officeDocument/2006/relationships" id="261" r:id="R026172f693284a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6af5b224254323" /><Relationship Type="http://schemas.openxmlformats.org/officeDocument/2006/relationships/slideMaster" Target="/ppt/slideMasters/slideMaster1.xml" Id="Rdf9ef5c1751c4f9b" /><Relationship Type="http://schemas.openxmlformats.org/officeDocument/2006/relationships/notesMaster" Target="/ppt/notesMasters/notesMaster1.xml" Id="Ra9fc7b4240c84b41" /><Relationship Type="http://schemas.openxmlformats.org/officeDocument/2006/relationships/presProps" Target="/ppt/presProps.xml" Id="Rf7dd99416fc748c8" /><Relationship Type="http://schemas.openxmlformats.org/officeDocument/2006/relationships/tableStyles" Target="/ppt/tableStyles.xml" Id="R059f7afab2a14e44" /><Relationship Type="http://schemas.openxmlformats.org/officeDocument/2006/relationships/slide" Target="/ppt/slides/slide1.xml" Id="R33ad845ae848428f" /><Relationship Type="http://schemas.openxmlformats.org/officeDocument/2006/relationships/slide" Target="/ppt/slides/slide2.xml" Id="Rfa7a5f5be8fc46cc" /><Relationship Type="http://schemas.openxmlformats.org/officeDocument/2006/relationships/slide" Target="/ppt/slides/slide3.xml" Id="R56443ebdadc44166" /><Relationship Type="http://schemas.openxmlformats.org/officeDocument/2006/relationships/slide" Target="/ppt/slides/slide4.xml" Id="Re3d2c52103ff4143" /><Relationship Type="http://schemas.openxmlformats.org/officeDocument/2006/relationships/slide" Target="/ppt/slides/slide5.xml" Id="R01497ce5ebd14667" /><Relationship Type="http://schemas.openxmlformats.org/officeDocument/2006/relationships/slide" Target="/ppt/slides/slide6.xml" Id="R026172f693284a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accd4b5a0246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015431670b430e" /><Relationship Type="http://schemas.openxmlformats.org/officeDocument/2006/relationships/notesMaster" Target="/ppt/notesMasters/notesMaster1.xml" Id="R2d7c53d7701045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7f202c0d44e47" /><Relationship Type="http://schemas.openxmlformats.org/officeDocument/2006/relationships/notesMaster" Target="/ppt/notesMasters/notesMaster1.xml" Id="R9404e89ae49e48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426bb948c640de" /><Relationship Type="http://schemas.openxmlformats.org/officeDocument/2006/relationships/notesMaster" Target="/ppt/notesMasters/notesMaster1.xml" Id="R47a886db6b0349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e2c9fa50848d9" /><Relationship Type="http://schemas.openxmlformats.org/officeDocument/2006/relationships/notesMaster" Target="/ppt/notesMasters/notesMaster1.xml" Id="Ra96595ef350f44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be1a2ae599457c" /><Relationship Type="http://schemas.openxmlformats.org/officeDocument/2006/relationships/notesMaster" Target="/ppt/notesMasters/notesMaster1.xml" Id="R264d6726502e4f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ba3654e4544b81" /><Relationship Type="http://schemas.openxmlformats.org/officeDocument/2006/relationships/notesMaster" Target="/ppt/notesMasters/notesMaster1.xml" Id="R05a3a106779643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</a:t>
            </a:r>
          </a:p>
          <a:p xmlns:a="http://schemas.openxmlformats.org/drawingml/2006/main">
            <a:r>
              <a:t>เปิดสไลด์ 1 ชี้ S และ G ในภาพ ยังไม่สลับไปโปรแกรม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สวัสดีครับ โปรเจกต์นี้คือการให้ AI เรียนรู้เดินออกจากเขาวงกตด้วย Reinforcement Learning ครับ เป้าหมายคือเดินจาก S ไป G ให้สำเร็จและใช้ก้าวน้อย โดย Agent เรียนรู้จากการลองเดินและรางวัลที่ได้รับ ผมใช้ Q-learning เป็นวิธีหลัก แล้วทดลองเพิ่ม Curriculum Learning และโบนัสสำรวจ เพื่อดูว่าสองแนวคิดนี้ช่วยให้เรียนรู้เร็วขึ้นหรือไม่ครับ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แหล่งข้อมูลในโปรเจกต์: PROJECT_PLAN.md; environment.py; results/exploration-20261018-160626-821321/summary.json</a:t>
            </a:r>
          </a:p>
          <a:p xmlns:a="http://schemas.openxmlformats.org/drawingml/2006/main">
            <a:r>
              <a:t>รันหลัก: results/exploration-20261018-160626-821321/summary.json</a:t>
            </a:r>
          </a:p>
          <a:p xmlns:a="http://schemas.openxmlformats.org/drawingml/2006/main">
            <a:r>
              <a:t>ภาพหน้าจอเป็นโปรแกรมจริง โมเดล Q ปกติ seed 0 ของรันหลัก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0:30–1:15</a:t>
            </a:r>
          </a:p>
          <a:p xmlns:a="http://schemas.openxmlformats.org/drawingml/2006/main">
            <a:r>
              <a:t>สไลด์ 2 ชี้ตำแหน่ง การเลือกทิศ และรางวัล เชื่อมกับสิ่งที่เรียน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ผมสร้าง Environment เป็นเขาวงกตตารางสิบคูณสิบ State คือตำแหน่งแถวและคอลัมน์ ส่วน Action มีขึ้น ขวา ลง และซ้ายครับ เดินปกติได้รางวัลลบหนึ่ง ชนกำแพงลบห้า และถึงเป้าหมายได้บวกหนึ่งร้อย จำกัดรอบละสามร้อยก้าว ข้อมูลฝึกจึงเกิดจากประสบการณ์ที่ Agent เล่นเอง ไม่ต้องมีชุดคำตอบติดป้ายกำกับ Q-learning เก็บค่าของแต่ละทิศใน Q-table แล้วปรับค่าจากรางวัลและสถานะถัดไป ช่วงฝึกใช้ epsilon-greedy เพื่อสลับระหว่างสำรวจและเลือกทิศที่คิดว่าดี ซึ่งเชื่อมกับเรื่อง exploration และ exploitation ที่เรียนครับ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แหล่งข้อมูลในโปรเจกต์: environment.py; qlearning.py (act, update); curriculum.py (train_budget)</a:t>
            </a:r>
          </a:p>
          <a:p xmlns:a="http://schemas.openxmlformats.org/drawingml/2006/main">
            <a:r>
              <a:t>รันหลัก: results/exploration-20261018-160626-821321/summary.json</a:t>
            </a:r>
          </a:p>
          <a:p xmlns:a="http://schemas.openxmlformats.org/drawingml/2006/main">
            <a:r>
              <a:t>ภาพหน้าจอเป็นโปรแกรมจริง โมเดล Q ปกติ seed 0 ของรันหลัก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1:15–2:05</a:t>
            </a:r>
          </a:p>
          <a:p xmlns:a="http://schemas.openxmlformats.org/drawingml/2006/main">
            <a:r>
              <a:t>สไลด์ 3 อธิบายสองวิธีด้วยภาษาง่าย ไม่ลงรายละเอียดทุกพารามิเตอร์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ผมต่อยอดสองส่วนครับ ส่วนแรกคือ Curriculum Learning จัดบทเรียนจากง่ายไปยาก เริ่มใกล้เป้าหมาย จากนั้นเริ่มไกลขึ้น และสุดท้ายกลับมาที่ S จริง ผู้สอนใช้ระยะทางจาก BFS เพื่อเลือกจุดเริ่ม แต่ไม่ได้ส่งระยะหรือเส้นทางให้ Agent ส่วนที่สองคือโบนัสสำรวจ ให้รางวัลเพิ่มเมื่อเดินเข้าช่องที่ยังไม่ค่อยเคยไป ยิ่งกลับไปบ่อย โบนัสยิ่งลดลง ตัวอย่างช่องใหม่ได้โบนัสศูนย์จุดห้า ทำให้ค่าการเดินจากลบหนึ่งเป็นลบศูนย์จุดห้า โดยไม่ให้โบนัสตอนชนกำแพงหรือถึงเป้าหมาย ผมแยกรางวัลเกมกับโบนัสไว้ใน log และใช้โบนัสเฉพาะระหว่างฝึกครับ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แหล่งข้อมูลในโปรเจกต์: curriculum.py (DistanceCurriculum); bonuses.py; results/exploration-20261018-160626-821321/summary.md</a:t>
            </a:r>
          </a:p>
          <a:p xmlns:a="http://schemas.openxmlformats.org/drawingml/2006/main">
            <a:r>
              <a:t>รันหลัก: results/exploration-20261018-160626-821321/summary.json</a:t>
            </a:r>
          </a:p>
          <a:p xmlns:a="http://schemas.openxmlformats.org/drawingml/2006/main">
            <a:r>
              <a:t>ภาพหน้าจอเป็นโปรแกรมจริง โมเดล Q ปกติ seed 0 ของรันหลัก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2:05–2:40</a:t>
            </a:r>
          </a:p>
          <a:p xmlns:a="http://schemas.openxmlformats.org/drawingml/2006/main">
            <a:r>
              <a:t>สไลด์ 4 เน้นหน่วย action และการทดสอบจาก S 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เพื่อเทียบให้ชัด ผมฝึกใหม่สามวิธี คือ Q ปกติ Q กับ Curriculum และ Q กับ Curriculum พร้อมโบนัส ทุกวิธีได้งบหนึ่งแสน action ต่อ seed ใช้ห้า seeds และนับทั้งการชนกำแพงกับช่วงเริ่มใกล้เป้าหมายรวมในงบครับ ระหว่างทางประเมินจาก S จริงบนแผนที่เดียวกัน ด้วย epsilon เป็นศูนย์ ไม่อัปเดต Q และไม่มีโบนัส ตัวชี้วัดคือความสำเร็จ จำนวนก้าว รางวัลเกม และจำนวน action ฝึกที่เริ่มสังเกตพบความสำเร็จครับ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แหล่งข้อมูลในโปรเจกต์: results/exploration-20261018-160626-821321/summary.json; logs/evaluation.csv</a:t>
            </a:r>
          </a:p>
          <a:p xmlns:a="http://schemas.openxmlformats.org/drawingml/2006/main">
            <a:r>
              <a:t>รันหลัก: results/exploration-20261018-160626-821321/summary.json</a:t>
            </a:r>
          </a:p>
          <a:p xmlns:a="http://schemas.openxmlformats.org/drawingml/2006/main">
            <a:r>
              <a:t>ภาพหน้าจอเป็นโปรแกรมจริง โมเดล Q ปกติ seed 0 ของรันหลัก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2:40–3:50</a:t>
            </a:r>
          </a:p>
          <a:p xmlns:a="http://schemas.openxmlformats.org/drawingml/2006/main">
            <a:r>
              <a:t>สไลด์ 5 ชี้แท่ง 5,800 / 6,800 / 7,400 แล้วชี้ผลสุดท้ายด้านขวา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ผลสุดท้ายทั้งสามวิธีสำเร็จครบห้าโมเดลต่อวิธี เดินถึงเป้าหมายในสิบแปดก้าว ได้รางวัลเกมแปดสิบสาม และไม่ชนกำแพงครับ แต่ถ้ามองความเร็วระหว่างฝึก จะเห็นความต่าง Q ปกติพบ greedy success ครั้งแรกเฉลี่ยที่ห้าพันแปดร้อย action ส่วน Curriculum อยู่ที่หกพันแปดร้อย และ Curriculum พร้อมโบนัสอยู่ที่เจ็ดพันสี่ร้อย ดังนั้นในการตั้งค่าชุดนี้ การเพิ่ม Curriculum และโบนัสยังไม่ช่วยให้เรียนรู้เร็วขึ้นครับ ตัวเลขนี้เป็นจุดที่สังเกตจากการประเมินเป็นช่วง ๆ ไม่ใช่ action แรกที่เรียนรู้ได้อย่างแน่นอน และผมไม่ได้เลือก seed หรือ checkpoint ที่ดีที่สุดมารายงาน ส่วนสาเหตุที่วิธีต่อยอดช้ากว่า ยังยืนยันจากการทดลองนี้อย่างเดียวไม่ได้ อาจเกี่ยวกับต้นทุนช่วง warm-up หรือความเหมาะสมกับแผนที่ขนาดนี้ ซึ่งต้องออกแบบทดลองเพิ่มครับ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แหล่งข้อมูลในโปรเจกต์: results/exploration-20261018-160626-821321/comparison.csv; summary.json; logs/evaluation.csv</a:t>
            </a:r>
          </a:p>
          <a:p xmlns:a="http://schemas.openxmlformats.org/drawingml/2006/main">
            <a:r>
              <a:t>รันหลัก: results/exploration-20261018-160626-821321/summary.json</a:t>
            </a:r>
          </a:p>
          <a:p xmlns:a="http://schemas.openxmlformats.org/drawingml/2006/main">
            <a:r>
              <a:t>ภาพหน้าจอเป็นโปรแกรมจริง โมเดล Q ปกติ seed 0 ของรันหลัก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3:50–5:00</a:t>
            </a:r>
          </a:p>
          <a:p xmlns:a="http://schemas.openxmlformats.org/drawingml/2006/main">
            <a:r>
              <a:t>3:50–4:30 สลับไปเกมและเดโม จากนั้นกลับสไลด์ 6 เพื่อสรุป 30 วินาที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ช่วงเดโม: ตอนนี้ให้ Random Agent สุ่มเดินสั้น ๆ จะเห็นว่าไม่มีนโยบายที่เรียนรู้ไว้ครับ จากนั้นผม reset แล้วเลือกโมเดลหลังฝึก ให้เดินจาก S เดิมโดยไม่เรียนรู้เพิ่ม ผลคือถึงเป้าหมายในสิบแปดก้าว รางวัลแปดสิบสาม ไม่ชนกำแพงครับ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ช่วงสรุป: งานนี้แสดงว่า Q-learning เรียนรู้แก้เขาวงกตที่กำหนดได้ และทำให้ผมทดลองเรื่องการสำรวจกับการจัดบทเรียนโดยวัดผลจริง อย่างไรก็ตามผลยังจำกัดที่แผนที่เดียวและจุดเริ่มเดิม การเพิ่มเทคนิคยังไม่ให้ประโยชน์ด้านความเร็วในชุดนี้ ถ้าพัฒนาต่อ ผมจะทดลองหลายแผนที่และแยกชุดสำหรับปรับค่ากับชุดประเมินก่อนสรุปว่าวิธีไหนดีกว่าครับ ขอบคุณครับ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แหล่งข้อมูลในโปรเจกต์: app.py; results/exploration-20261018-160626-821321/summary.json; screenshot: Q-learning, seed 0, 100000 training actions</a:t>
            </a:r>
          </a:p>
          <a:p xmlns:a="http://schemas.openxmlformats.org/drawingml/2006/main">
            <a:r>
              <a:t>รันหลัก: results/exploration-20261018-160626-821321/summary.json</a:t>
            </a:r>
          </a:p>
          <a:p xmlns:a="http://schemas.openxmlformats.org/drawingml/2006/main">
            <a:r>
              <a:t>ภาพหน้าจอเป็นโปรแกรมจริง โมเดล Q ปกติ seed 0 ของรันหลัก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82837743a48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041eec9af4f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2c15b38f64d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9be60b86841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94575719645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2ccf51a2d45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96CEE1-30E3-4213-B050-9C0209110A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3B91F2-6A0C-4945-932D-8135D198ED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1FA885-400A-461C-B570-7C7BCF6FA9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6A73BA-CFDF-4949-9D26-38B2C9081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99E59F-2C14-4B1E-8DE8-2BFDB4E00E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8D54D6-D43C-4A42-AE35-D69AB9E26E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40EEDA-5C27-4138-A97F-FC91ABB932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BA7DF1-C67C-43BB-9CD1-3B414DD949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E627A8-3ADD-49B9-B5D5-29A82A68B7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BB16B2-851C-41BF-8BB6-A0FB2977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cd6ecaa7364acc" /><Relationship Type="http://schemas.openxmlformats.org/officeDocument/2006/relationships/slideLayout" Target="/ppt/slideLayouts/slideLayout1.xml" Id="R5c55a95a03fa47c0" /><Relationship Type="http://schemas.openxmlformats.org/officeDocument/2006/relationships/slideLayout" Target="/ppt/slideLayouts/slideLayout2.xml" Id="R509fbafd900c4695" /><Relationship Type="http://schemas.openxmlformats.org/officeDocument/2006/relationships/slideLayout" Target="/ppt/slideLayouts/slideLayout3.xml" Id="R7278866d69ea4203" /><Relationship Type="http://schemas.openxmlformats.org/officeDocument/2006/relationships/slideLayout" Target="/ppt/slideLayouts/slideLayout4.xml" Id="Rf7bdfe08ceb64b30" /><Relationship Type="http://schemas.openxmlformats.org/officeDocument/2006/relationships/slideLayout" Target="/ppt/slideLayouts/slideLayout5.xml" Id="R496efa15235243c3" /><Relationship Type="http://schemas.openxmlformats.org/officeDocument/2006/relationships/slideLayout" Target="/ppt/slideLayouts/slideLayout6.xml" Id="Rb19c7e73f93740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5a95a03fa47c0"/>
    <p:sldLayoutId xmlns:r="http://schemas.openxmlformats.org/officeDocument/2006/relationships" id="2147483650" r:id="R509fbafd900c4695"/>
    <p:sldLayoutId xmlns:r="http://schemas.openxmlformats.org/officeDocument/2006/relationships" id="2147483651" r:id="R7278866d69ea4203"/>
    <p:sldLayoutId xmlns:r="http://schemas.openxmlformats.org/officeDocument/2006/relationships" id="2147483652" r:id="Rf7bdfe08ceb64b30"/>
    <p:sldLayoutId xmlns:r="http://schemas.openxmlformats.org/officeDocument/2006/relationships" id="2147483653" r:id="R496efa15235243c3"/>
    <p:sldLayoutId xmlns:r="http://schemas.openxmlformats.org/officeDocument/2006/relationships" id="2147483654" r:id="Rb19c7e73f93740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6dcef774ce4ff4" /><Relationship Type="http://schemas.openxmlformats.org/officeDocument/2006/relationships/image" Target="/ppt/media/image.jpeg" Id="Rfab2ad582f404c75" /><Relationship Type="http://schemas.openxmlformats.org/officeDocument/2006/relationships/notesSlide" Target="/ppt/notesSlides/notesSlide1.xml" Id="Rd787921ad83f43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f0e55f2764bfd" /><Relationship Type="http://schemas.openxmlformats.org/officeDocument/2006/relationships/notesSlide" Target="/ppt/notesSlides/notesSlide2.xml" Id="Rb8b259ec60e248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1d30e0b574977" /><Relationship Type="http://schemas.openxmlformats.org/officeDocument/2006/relationships/notesSlide" Target="/ppt/notesSlides/notesSlide3.xml" Id="R57919cc766f24c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f9ff83b2a48a6" /><Relationship Type="http://schemas.openxmlformats.org/officeDocument/2006/relationships/notesSlide" Target="/ppt/notesSlides/notesSlide4.xml" Id="R6312f7af23384f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552147f8b46e8" /><Relationship Type="http://schemas.openxmlformats.org/officeDocument/2006/relationships/chart" Target="/ppt/slides/charts/chart1.xml" Id="R39dedfeb956a42ae" /><Relationship Type="http://schemas.openxmlformats.org/officeDocument/2006/relationships/notesSlide" Target="/ppt/notesSlides/notesSlide5.xml" Id="R54d61f6b0a5447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b61d5acd44c79" /><Relationship Type="http://schemas.openxmlformats.org/officeDocument/2006/relationships/image" Target="/ppt/media/image2.jpeg" Id="R92f1c9eac1624be3" /><Relationship Type="http://schemas.openxmlformats.org/officeDocument/2006/relationships/notesSlide" Target="/ppt/notesSlides/notesSlide6.xml" Id="R694225afba324aa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ก้าวฝึกเฉลี่ยที่สังเกตพบสำเร็จครั้งแรก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 b="1">
              <a:solidFill>
                <a:srgbClr val="13243A"/>
              </a:solidFill>
              <a:latin typeface="Leelawadee UI"/>
              <a:ea typeface="Leelawadee UI"/>
              <a:cs typeface="Leelawadee U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Training actions</c:v>
          </c:tx>
          <c:spPr>
            <a:solidFill xmlns:a="http://schemas.openxmlformats.org/drawingml/2006/main">
              <a:srgbClr val="148B78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Q ปกติ</c:v>
                </c:pt>
                <c:pt idx="1">
                  <c:v>Curriculum</c:v>
                </c:pt>
                <c:pt idx="2">
                  <c:v>Curriculum + Bonus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5800</c:v>
                </c:pt>
                <c:pt idx="1">
                  <c:v>6800</c:v>
                </c:pt>
                <c:pt idx="2">
                  <c:v>7400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3243A"/>
                  </a:solidFill>
                  <a:latin typeface="Leelawadee UI"/>
                  <a:ea typeface="Leelawadee UI"/>
                  <a:cs typeface="Leelawade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</a:p>
        </c:txPr>
        <c:crossAx val="48672768"/>
      </c:catAx>
      <c:valAx>
        <c:axId val="48672768"/>
        <c:scaling>
          <c:orientation val="minMax"/>
          <c:max val="9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A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</a:p>
        </c:txPr>
        <c:crossAx val="48650112"/>
        <c:crossBetween val="between"/>
        <c:majorUnit val="3000"/>
      </c:valAx>
      <c:spPr>
        <a:solidFill xmlns:a="http://schemas.openxmlformats.org/drawingml/2006/main">
          <a:srgbClr val="F6F8FB"/>
        </a:solidFill>
      </c:spPr>
    </c:plotArea>
    <c:plotVisOnly val="1"/>
  </c:chart>
  <c:spPr>
    <a:solidFill xmlns:a="http://schemas.openxmlformats.org/drawingml/2006/main">
      <a:srgbClr val="F6F8F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DC251-AB08-4EA7-A7C8-E822044E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9CACC3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DA993-6CE8-4E59-AA6F-5D36CFA1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5572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pPr>
            <a:r>
              <a: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rPr>
              <a:t>AI เรียนรู้</a:t>
            </a:r>
          </a:p>
          <a:p xmlns:a="http://schemas.openxmlformats.org/drawingml/2006/main">
            <a:pPr>
              <a:def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defRPr>
            </a:pPr>
            <a:r>
              <a:rPr sz="4800" b="1">
                <a:solidFill>
                  <a:srgbClr val="E5EDF7"/>
                </a:solidFill>
                <a:latin typeface="Leelawadee UI"/>
                <a:ea typeface="Leelawadee UI"/>
                <a:cs typeface="Leelawadee UI"/>
              </a:rPr>
              <a:t>แก้เขาวงกต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E7F34-A6FA-4C71-8248-ED6FC7A1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rPr>
              <a:t>Q-learning กับ Curriculum</a:t>
            </a:r>
          </a:p>
          <a:p xmlns:a="http://schemas.openxmlformats.org/drawingml/2006/main">
            <a:pPr>
              <a:def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5EE0BC"/>
                </a:solidFill>
                <a:latin typeface="Leelawadee UI"/>
                <a:ea typeface="Leelawadee UI"/>
                <a:cs typeface="Leelawadee UI"/>
              </a:rPr>
              <a:t>และโบนัสสำรวจ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94142-46FE-4AA1-A945-FA3FE079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rPr>
              <a:t>ศึกษาว่า Agent เรียนรู้ได้อย่างไร</a:t>
            </a:r>
          </a:p>
          <a:p xmlns:a="http://schemas.openxmlformats.org/drawingml/2006/main">
            <a:pPr>
              <a:def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B6C5D8"/>
                </a:solidFill>
                <a:latin typeface="Leelawadee UI"/>
                <a:ea typeface="Leelawadee UI"/>
                <a:cs typeface="Leelawadee UI"/>
              </a:rPr>
              <a:t>และวิธีต่อยอดช่วยให้เร็วขึ้นหรือไม่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64D52-659B-4D76-900E-49ECFA5008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2ad582f404c75"/>
          <a:stretch xmlns:a="http://schemas.openxmlformats.org/drawingml/2006/main"/>
        </p:blipFill>
        <p:spPr>
          <a:xfrm xmlns:a="http://schemas.openxmlformats.org/drawingml/2006/main">
            <a:off x="6191250" y="1182153"/>
            <a:ext cx="5476875" cy="41603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9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6705A-E548-4F94-B49D-784C85C5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State, Action และ Reward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C091A-F074-476A-BC63-4D278BAB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C2892-5AF1-4BCF-AC6F-E1196E7F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rPr>
              <a:t>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C70EF-A959-4B75-8EEF-F0A5C7FF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381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เขาวงกต 10 × 10</a:t>
            </a:r>
          </a:p>
          <a:p xmlns:a="http://schemas.openxmlformats.org/drawingml/2006/main">
            <a: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State: ตำแหน่ง (แถว, คอลัมน์)</a:t>
            </a:r>
          </a:p>
          <a:p xmlns:a="http://schemas.openxmlformats.org/drawingml/2006/main">
            <a: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Action: ขึ้น ขวา ลง ซ้าย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2FC76-AFF0-4F19-A377-C183A755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430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rPr>
              <a:t>Reward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F4AA4-7FBC-4DFB-B0C3-45D9B3C9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526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เดินปกติ −1</a:t>
            </a:r>
          </a:p>
          <a:p xmlns:a="http://schemas.openxmlformats.org/drawingml/2006/main">
            <a: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ชนกำแพง −5</a:t>
            </a:r>
          </a:p>
          <a:p xmlns:a="http://schemas.openxmlformats.org/drawingml/2006/main">
            <a:pPr>
              <a:def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ถึงเป้าหมาย +100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9F880-7DF6-4D72-89EF-FFCEAC9B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Q-table เรียนรู้ค่าของแต่ละทิศจาก transition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98BA0-94A2-40D8-AC0A-60966DB6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ระหว่างฝึกใช้ epsilon-greedy เพื่อสำรวจและเลือกทิศที่มีค่า Q สูง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D9B4C-A09C-49DE-9BE2-CDB03330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จำกัด 300 action ต่อ episode ข้อมูลฝึกเกิดจากการเล่นของ Agent</a:t>
            </a:r>
          </a:p>
        </p:txBody>
      </p:sp>
    </p:spTree>
    <p:extLst>
      <p:ext uri="{BB962C8B-B14F-4D97-AF65-F5344CB8AC3E}">
        <p14:creationId xmlns:p14="http://schemas.microsoft.com/office/powerpoint/2010/main" val="463979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904C3-E4DB-4332-BAEE-3878553D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Curriculum และโบนัสสำรวจ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9622E-2DB3-46F7-98C7-A31545EE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8DF3B-2213-418F-9A38-3CDC7D95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38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rPr>
              <a:t>Curriculum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364DB-78CC-4A19-80B8-AAB5D9DB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381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1. เริ่มใกล้ G ระยะ 1–4 ช่อง</a:t>
            </a:r>
          </a:p>
          <a:p xmlns:a="http://schemas.openxmlformats.org/drawingml/2006/main">
            <a: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2. เริ่มระยะกลาง 5–10 ช่อง</a:t>
            </a:r>
          </a:p>
          <a:p xmlns:a="http://schemas.openxmlformats.org/drawingml/2006/main">
            <a:pPr>
              <a:def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3. กลับมาเริ่มจาก S 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1198D-22D4-413C-A4E0-3387993B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5381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ผู้สอนใช้ BFS เลือกจุดเริ่ม</a:t>
            </a:r>
          </a:p>
          <a:p xmlns:a="http://schemas.openxmlformats.org/drawingml/2006/main">
            <a: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Agent ไม่ได้รับระยะหรือเส้นทาง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320DA-C5CF-492E-8E8D-F6B6336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811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rPr>
              <a:t>Count-based bonus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B46F2-66B5-407A-94DA-278113F2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โบนัส = 0.5 / sqrt(N + 1)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D9AD0-5C43-4CE1-B4AB-15CA2917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05150"/>
            <a:ext cx="4762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N คือ visit ก่อนเข้าช่องนั้น</a:t>
            </a:r>
          </a:p>
          <a:p xmlns:a="http://schemas.openxmlformats.org/drawingml/2006/main">
            <a: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เข้าช่องเดิมบ่อย โบนัสยิ่งลด</a:t>
            </a:r>
          </a:p>
          <a:p xmlns:a="http://schemas.openxmlformats.org/drawingml/2006/main">
            <a: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ช่องใหม่ได้โบนัส 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D3D7-C55E-4FB6-BE40-141E1F98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76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ใช้เฉพาะตอนฝึก</a:t>
            </a:r>
          </a:p>
          <a:p xmlns:a="http://schemas.openxmlformats.org/drawingml/2006/main">
            <a: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ชนกำแพงและถึง G ไม่มีโบนัส</a:t>
            </a:r>
          </a:p>
        </p:txBody>
      </p:sp>
    </p:spTree>
    <p:extLst>
      <p:ext uri="{BB962C8B-B14F-4D97-AF65-F5344CB8AC3E}">
        <p14:creationId xmlns:p14="http://schemas.microsoft.com/office/powerpoint/2010/main" val="835015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2B0DE-1E48-4F39-9A34-A0D4D69E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การทดลองด้วยงบเท่ากัน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CF4D4-1163-418C-8A73-48F365C6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FA6D0-B79F-458E-B0A8-9ED685110EAF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619125">
                <a:tc>
                  <a:txBody>
                    <a:bodyPr lIns="171450" tIns="95250" rIns="171450" bIns="9525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เงื่อนไข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ใช้ร่วมกันทั้ง 3 วิธี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A"/>
                      </a:solidFill>
                      <a:prstDash val="solid"/>
                    </a:lnR>
                    <a:lnT w="9525">
                      <a:solidFill>
                        <a:srgbClr val="D9E1EA"/>
                      </a:solidFill>
                      <a:prstDash val="solid"/>
                    </a:lnT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13243A"/>
                    </a:solidFill>
                  </a:tcPr>
                </a:tc>
              </a:tr>
              <a:tr h="657225">
                <a:tc>
                  <a:txBody>
                    <a:bodyPr lIns="171450" tIns="95250" rIns="171450" bIns="95250"/>
                    <a:lstStyle/>
                    <a:p>
                      <a:r>
                        <a:rPr sz="1950" b="1">
                          <a:solidFill>
                            <a:srgbClr val="13243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งบฝึก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r>
                        <a:rPr sz="1950" b="0">
                          <a:solidFill>
                            <a:srgbClr val="13243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100,000 action ต่อวิธี ต่อ seed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71450" tIns="95250" rIns="171450" bIns="95250"/>
                    <a:lstStyle/>
                    <a:p>
                      <a:r>
                        <a:rPr sz="1950" b="1">
                          <a:solidFill>
                            <a:srgbClr val="13243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Training seeds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r>
                        <a:rPr sz="1950" b="0">
                          <a:solidFill>
                            <a:srgbClr val="13243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 seeds (0–4) เริ่ม Q=0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57225">
                <a:tc>
                  <a:txBody>
                    <a:bodyPr lIns="171450" tIns="95250" rIns="171450" bIns="95250"/>
                    <a:lstStyle/>
                    <a:p>
                      <a:r>
                        <a:rPr sz="1950" b="1">
                          <a:solidFill>
                            <a:srgbClr val="13243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การประเมิน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r>
                        <a:rPr sz="1950" b="0">
                          <a:solidFill>
                            <a:srgbClr val="13243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เริ่ม S จริง แผนที่เดิม ทุก 1,000 action*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71450" tIns="95250" rIns="171450" bIns="95250"/>
                    <a:lstStyle/>
                    <a:p>
                      <a:r>
                        <a:rPr sz="1950" b="1">
                          <a:solidFill>
                            <a:srgbClr val="13243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โหมดทดสอบ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r>
                        <a:rPr sz="1950" b="0">
                          <a:solidFill>
                            <a:srgbClr val="13243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epsilon=0 ไม่มี update และไม่มีโบนัส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57225">
                <a:tc>
                  <a:txBody>
                    <a:bodyPr lIns="171450" tIns="95250" rIns="171450" bIns="95250"/>
                    <a:lstStyle/>
                    <a:p>
                      <a:r>
                        <a:rPr sz="1950" b="1">
                          <a:solidFill>
                            <a:srgbClr val="13243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ตัวชี้วัด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A"/>
                      </a:solidFill>
                      <a:prstDash val="solid"/>
                    </a:lnL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r>
                        <a:rPr sz="1950" b="0">
                          <a:solidFill>
                            <a:srgbClr val="13243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Success rate, ก้าวเดิน, รางวัลเกม, ความเร็วการเรียนรู้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A"/>
                      </a:solidFill>
                      <a:prstDash val="solid"/>
                    </a:lnR>
                    <a:lnB w="9525">
                      <a:solidFill>
                        <a:srgbClr val="D9E1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35283-E7F6-47AD-9D88-2B1CBA22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rPr>
              <a:t>นับ warm-up และการชนกำแพงรวมในงบฝึกเสมอ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32511-1D58-4D40-8CB6-17D885E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*มีจุด snapshot เพิ่มที่กำหนดไว้ก่อนฝึก ทดสอบสุดท้าย 1 rollout ต่อโมเดล</a:t>
            </a:r>
          </a:p>
        </p:txBody>
      </p:sp>
    </p:spTree>
    <p:extLst>
      <p:ext uri="{BB962C8B-B14F-4D97-AF65-F5344CB8AC3E}">
        <p14:creationId xmlns:p14="http://schemas.microsoft.com/office/powerpoint/2010/main" val="2093133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C0EFA-FEF8-42CB-BD20-3ED98DDC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ผลการทดลอง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9EEC6-0105-4132-959F-1312F7D5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5A41854-0A17-4575-B4B7-437412F657CA}"/>
              </a:ext>
            </a:extLst>
          </p:cNvPr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72866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dedfeb956a42a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3D15D-CE00-4F22-B324-263DE784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pPr>
            <a:r>
              <a:rPr sz="45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rPr>
              <a:t>18 ก้าว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DDA80-E838-48C1-AED2-AC68C775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28925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ผลสุดท้ายเหมือนกันทั้ง 3 วิธี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FA170-E065-4865-9185-6C2FF62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0045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สำเร็จ 5/5 โมเดลต่อวิธี</a:t>
            </a:r>
          </a:p>
          <a:p xmlns:a="http://schemas.openxmlformats.org/drawingml/2006/main">
            <a: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รางวัลเกม 83</a:t>
            </a:r>
          </a:p>
          <a:p xmlns:a="http://schemas.openxmlformats.org/drawingml/2006/main">
            <a: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ชนกำแพง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1EDB5-D954-40A3-BB7F-DE4B0839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Curriculum และโบนัสยังไม่ช่วยให้เร็วขึ้นในการตั้งค่านี้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64208-C186-4B5D-A96A-69FF047F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ค่าเฉลี่ยจาก 5 seeds ตามจุดประเมิน ยังไม่ทดสอบแผนที่ใหม่</a:t>
            </a:r>
          </a:p>
        </p:txBody>
      </p:sp>
    </p:spTree>
    <p:extLst>
      <p:ext uri="{BB962C8B-B14F-4D97-AF65-F5344CB8AC3E}">
        <p14:creationId xmlns:p14="http://schemas.microsoft.com/office/powerpoint/2010/main" val="1186787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9A296-21C8-462F-939D-1BB8D5C3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เดโมและข้อสรุป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05E67-2E22-473D-85CC-4E6AE106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1765D-E8D6-4215-9F85-7061CDE69D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1c9eac1624be3"/>
          <a:stretch xmlns:a="http://schemas.openxmlformats.org/drawingml/2006/main"/>
        </p:blipFill>
        <p:spPr>
          <a:xfrm xmlns:a="http://schemas.openxmlformats.org/drawingml/2006/main">
            <a:off x="609600" y="1410891"/>
            <a:ext cx="6191250" cy="470296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345D9-503D-4B6E-B061-A5901EF6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811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rPr>
              <a:t>Q-learning</a:t>
            </a:r>
          </a:p>
          <a:p xmlns:a="http://schemas.openxmlformats.org/drawingml/2006/main">
            <a:pPr>
              <a:def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087D69"/>
                </a:solidFill>
                <a:latin typeface="Leelawadee UI"/>
                <a:ea typeface="Leelawadee UI"/>
                <a:cs typeface="Leelawadee UI"/>
              </a:rPr>
              <a:t>แก้แผนที่นี้ได้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94817-1D60-413A-AD30-88687C1D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438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การเพิ่มเทคนิคยังไม่ช่วยให้เร็วขึ้น</a:t>
            </a:r>
          </a:p>
          <a:p xmlns:a="http://schemas.openxmlformats.org/drawingml/2006/main">
            <a:pPr>
              <a:def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ในแผนที่และค่าที่ทดลอง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5D208-7B47-4925-827A-2A9180E4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433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3243A"/>
                </a:solidFill>
                <a:latin typeface="Leelawadee UI"/>
                <a:ea typeface="Leelawadee UI"/>
                <a:cs typeface="Leelawadee UI"/>
              </a:rPr>
              <a:t>ขอบเขตของผล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1A540-EF6B-4343-AC98-6677D473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95825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แผนที่เดียว จุดเริ่มเดิม</a:t>
            </a:r>
          </a:p>
          <a:p xmlns:a="http://schemas.openxmlformats.org/drawingml/2006/main">
            <a: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งานต่อไปทดลองหลายแผนที่</a:t>
            </a:r>
          </a:p>
          <a:p xmlns:a="http://schemas.openxmlformats.org/drawingml/2006/main">
            <a:pPr>
              <a:def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และแยกชุดปรับค่ากับชุดประเมิน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636FD-9ABC-47FA-A246-AB4BFD1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633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4A5F75"/>
                </a:solidFill>
                <a:latin typeface="Leelawadee UI"/>
                <a:ea typeface="Leelawadee UI"/>
                <a:cs typeface="Leelawadee UI"/>
              </a:rPr>
              <a:t>ตัวอย่างเดโม: Q ปกติ seed 0 หลังฝึก 100,000 action</a:t>
            </a:r>
          </a:p>
        </p:txBody>
      </p:sp>
    </p:spTree>
    <p:extLst>
      <p:ext uri="{BB962C8B-B14F-4D97-AF65-F5344CB8AC3E}">
        <p14:creationId xmlns:p14="http://schemas.microsoft.com/office/powerpoint/2010/main" val="386382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2026-10-18T09:44:38.0670000Z</dcterms:created>
  <dcterms:modified xsi:type="dcterms:W3CDTF">2026-10-18T09:44:38.0670000Z</dcterms:modified>
</coreProperties>
</file>